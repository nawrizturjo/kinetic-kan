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822960"/>
            <a:ext cx="1097280" cy="-274320"/>
          </a:xfrm>
          <a:prstGeom prst="line">
            <a:avLst/>
          </a:prstGeom>
          <a:noFill/>
          <a:ln w="15875">
            <a:solidFill>
              <a:srgbClr val="3A42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822960"/>
            <a:ext cx="457200" cy="1005840"/>
          </a:xfrm>
          <a:prstGeom prst="line">
            <a:avLst/>
          </a:prstGeom>
          <a:noFill/>
          <a:ln w="15875">
            <a:solidFill>
              <a:srgbClr val="3A427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548640"/>
            <a:ext cx="914400" cy="640080"/>
          </a:xfrm>
          <a:prstGeom prst="line">
            <a:avLst/>
          </a:prstGeom>
          <a:noFill/>
          <a:ln w="15875">
            <a:solidFill>
              <a:srgbClr val="3A42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0" y="1188720"/>
            <a:ext cx="-365760" cy="914400"/>
          </a:xfrm>
          <a:prstGeom prst="line">
            <a:avLst/>
          </a:prstGeom>
          <a:noFill/>
          <a:ln w="15875">
            <a:solidFill>
              <a:srgbClr val="3A42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0" y="1828800"/>
            <a:ext cx="1188720" cy="274320"/>
          </a:xfrm>
          <a:prstGeom prst="line">
            <a:avLst/>
          </a:prstGeom>
          <a:noFill/>
          <a:ln w="15875">
            <a:solidFill>
              <a:srgbClr val="3A42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07040" y="548640"/>
            <a:ext cx="-640080" cy="1280160"/>
          </a:xfrm>
          <a:prstGeom prst="line">
            <a:avLst/>
          </a:prstGeom>
          <a:noFill/>
          <a:ln w="15875">
            <a:solidFill>
              <a:srgbClr val="3A42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64040" y="777240"/>
            <a:ext cx="91440" cy="9144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9" name="Shape 7"/>
          <p:cNvSpPr/>
          <p:nvPr/>
        </p:nvSpPr>
        <p:spPr>
          <a:xfrm>
            <a:off x="10561320" y="502920"/>
            <a:ext cx="91440" cy="91440"/>
          </a:xfrm>
          <a:prstGeom prst="ellipse">
            <a:avLst/>
          </a:prstGeom>
          <a:solidFill>
            <a:srgbClr val="CFE0FF"/>
          </a:solidFill>
          <a:ln/>
        </p:spPr>
      </p:sp>
      <p:sp>
        <p:nvSpPr>
          <p:cNvPr id="10" name="Shape 8"/>
          <p:cNvSpPr/>
          <p:nvPr/>
        </p:nvSpPr>
        <p:spPr>
          <a:xfrm>
            <a:off x="11475720" y="1143000"/>
            <a:ext cx="91440" cy="9144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1" name="Shape 9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CFE0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109960" y="2057400"/>
            <a:ext cx="91440" cy="9144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7772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PROPOSAL  ·  CSE 401 NUMERICAL ANALYSIS, SIMULATION &amp; MODELING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123444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Solver-Aware Neural Dynamics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0080" y="20574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Interrogating Integrators and Basis Functions in Kolmogorov-Arnold Network ODEs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29718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232A52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1089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Paper:  </a:t>
            </a:r>
            <a:pPr indent="0" marL="0">
              <a:buNone/>
            </a:pPr>
            <a:r>
              <a:rPr lang="en-US" sz="13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Koenig, Kim &amp; Deng — “KAN-ODEs: Kolmogorov-Arnold Network Ordinary Differential Equations for Learning Dynamical Systems and Hidden Physics,” arXiv:2407.04192 (2024), MIT.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977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DETAILS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" y="4416552"/>
            <a:ext cx="82296" cy="82296"/>
          </a:xfrm>
          <a:prstGeom prst="ellipse">
            <a:avLst/>
          </a:prstGeom>
          <a:solidFill>
            <a:srgbClr val="CFE0FF"/>
          </a:solidFill>
          <a:ln/>
        </p:spPr>
      </p:sp>
      <p:sp>
        <p:nvSpPr>
          <p:cNvPr id="20" name="Text 18"/>
          <p:cNvSpPr/>
          <p:nvPr/>
        </p:nvSpPr>
        <p:spPr>
          <a:xfrm>
            <a:off x="896112" y="431596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 — ODE Solvers &amp; Discretization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58368" y="4800600"/>
            <a:ext cx="82296" cy="82296"/>
          </a:xfrm>
          <a:prstGeom prst="ellipse">
            <a:avLst/>
          </a:prstGeom>
          <a:solidFill>
            <a:srgbClr val="CFE0FF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4700016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 — KAN Edge / Basis Functions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58368" y="5184648"/>
            <a:ext cx="82296" cy="82296"/>
          </a:xfrm>
          <a:prstGeom prst="ellipse">
            <a:avLst/>
          </a:prstGeom>
          <a:solidFill>
            <a:srgbClr val="CFE0FF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" y="5084064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 — SciML Training Pipeline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58368" y="5568696"/>
            <a:ext cx="82296" cy="82296"/>
          </a:xfrm>
          <a:prstGeom prst="ellipse">
            <a:avLst/>
          </a:prstGeom>
          <a:solidFill>
            <a:srgbClr val="CFE0FF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546811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4 — Stability &amp; Noise Analysis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58368" y="5952744"/>
            <a:ext cx="82296" cy="82296"/>
          </a:xfrm>
          <a:prstGeom prst="ellipse">
            <a:avLst/>
          </a:prstGeom>
          <a:solidFill>
            <a:srgbClr val="CFE0FF"/>
          </a:solidFill>
          <a:ln/>
        </p:spPr>
      </p:sp>
      <p:sp>
        <p:nvSpPr>
          <p:cNvPr id="28" name="Text 26"/>
          <p:cNvSpPr/>
          <p:nvPr/>
        </p:nvSpPr>
        <p:spPr>
          <a:xfrm>
            <a:off x="896112" y="585216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5 — Cross-Domain Systems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400800" y="3977640"/>
            <a:ext cx="5120640" cy="2331720"/>
          </a:xfrm>
          <a:prstGeom prst="roundRect">
            <a:avLst>
              <a:gd name="adj" fmla="val 3922"/>
            </a:avLst>
          </a:prstGeom>
          <a:solidFill>
            <a:srgbClr val="232A52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75120" y="44348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A1 / A2  ·  Week 8, Monday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675120" y="48646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August 2026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675120" y="53492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Direction: Methodological Extension + Comparative Benchmarking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Paper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KAN-ODEs: replacing MLPs with learnable edge functions inside Neural ODEs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612648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C2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8680" y="21031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B1F3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057400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u(t)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417320" y="2359152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values of the system's variables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60704" y="2487168"/>
            <a:ext cx="0" cy="384048"/>
          </a:xfrm>
          <a:prstGeom prst="line">
            <a:avLst/>
          </a:prstGeom>
          <a:noFill/>
          <a:ln w="19050">
            <a:solidFill>
              <a:srgbClr val="E2E5F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868680" y="30632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2B84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063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3017520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gradient-getter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417320" y="3319272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 1-D spline/RBF functions on edges compute du/dt = KAN(u,θ)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60704" y="3447288"/>
            <a:ext cx="0" cy="384048"/>
          </a:xfrm>
          <a:prstGeom prst="line">
            <a:avLst/>
          </a:prstGeom>
          <a:noFill/>
          <a:ln w="19050">
            <a:solidFill>
              <a:srgbClr val="E2E5F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68680" y="4023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B1F3B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023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3977640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 integrator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417320" y="4279392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Tsit5 solver integrates du/dt forward to give u(t+Δt)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68680" y="50292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edge activation: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68680" y="53035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φ(x) = w_b·silu(x) + w_s·Σ c_i B_i(x)   (B-spline or Gaussian RBF basis)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68680" y="571500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Kolmogorov-Arnold Representation Theorem underlies the architecture — any continuous multivariate function is a finite sum of univariate functions.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95160" y="1508760"/>
            <a:ext cx="4526280" cy="2148840"/>
          </a:xfrm>
          <a:prstGeom prst="roundRect">
            <a:avLst>
              <a:gd name="adj" fmla="val 3404"/>
            </a:avLst>
          </a:prstGeom>
          <a:solidFill>
            <a:srgbClr val="1B1F3B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0" y="1691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REPORTED RESULT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23760" y="19659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10×</a:t>
            </a:r>
            <a:endParaRPr lang="en-US" sz="4600" dirty="0"/>
          </a:p>
        </p:txBody>
      </p:sp>
      <p:sp>
        <p:nvSpPr>
          <p:cNvPr id="26" name="Text 24"/>
          <p:cNvSpPr/>
          <p:nvPr/>
        </p:nvSpPr>
        <p:spPr>
          <a:xfrm>
            <a:off x="7223760" y="265176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training epochs than an MLP Neural ODE of equal size (240 vs 252 params), on Lotka-Volterra predator-prey dynamics.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995160" y="3794760"/>
            <a:ext cx="45262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C2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223760" y="3977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WE TARGET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269480" y="4398264"/>
            <a:ext cx="82296" cy="8229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0" y="427024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choice (Tsit5) is never ablated against fixed-step integrators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269480" y="4992624"/>
            <a:ext cx="82296" cy="8229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32" name="Text 30"/>
          <p:cNvSpPr/>
          <p:nvPr/>
        </p:nvSpPr>
        <p:spPr>
          <a:xfrm>
            <a:off x="7498080" y="486460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RBF / spline basis used — other interpolants untested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269480" y="5586984"/>
            <a:ext cx="82296" cy="8229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34" name="Text 32"/>
          <p:cNvSpPr/>
          <p:nvPr/>
        </p:nvSpPr>
        <p:spPr>
          <a:xfrm>
            <a:off x="7498080" y="54589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stiff or noisy-data stress test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Scope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Methodological Extension — interrogate the numerical subroutines the base paper left unexamined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1B1F3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72768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paper validates KAN-ODEs only with the default adaptive Tsit5 solver and a single RBF basis — so it's unclear how much of KAN-ODE's advantage comes from the network, versus from the numerics wrapped around it.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3502152" cy="3611880"/>
          </a:xfrm>
          <a:prstGeom prst="roundRect">
            <a:avLst>
              <a:gd name="adj" fmla="val 2350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C2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7706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2770632"/>
            <a:ext cx="2496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63040" y="2990088"/>
            <a:ext cx="2496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ODE Solver Ablation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3547872"/>
            <a:ext cx="73152" cy="7315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419856"/>
            <a:ext cx="2816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Euler O(h)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3968496"/>
            <a:ext cx="73152" cy="7315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840480"/>
            <a:ext cx="2816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Heun RK2 O(h²)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" y="4389120"/>
            <a:ext cx="73152" cy="7315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261104"/>
            <a:ext cx="2816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RK4 O(h⁴)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4400" y="4809744"/>
            <a:ext cx="73152" cy="7315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4681728"/>
            <a:ext cx="2816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Dormand-Prince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68680" y="5440680"/>
            <a:ext cx="3044952" cy="0"/>
          </a:xfrm>
          <a:prstGeom prst="line">
            <a:avLst/>
          </a:prstGeom>
          <a:noFill/>
          <a:ln w="12700">
            <a:solidFill>
              <a:srgbClr val="E2E5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532120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loss convergence, NFE, extrapolation drift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25112" y="2514600"/>
            <a:ext cx="3502152" cy="3611880"/>
          </a:xfrm>
          <a:prstGeom prst="roundRect">
            <a:avLst>
              <a:gd name="adj" fmla="val 2350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C2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53712" y="27706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2B84B"/>
          </a:solidFill>
          <a:ln/>
        </p:spPr>
      </p:sp>
      <p:sp>
        <p:nvSpPr>
          <p:cNvPr id="23" name="Text 21"/>
          <p:cNvSpPr/>
          <p:nvPr/>
        </p:nvSpPr>
        <p:spPr>
          <a:xfrm>
            <a:off x="4553712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148072" y="2770632"/>
            <a:ext cx="2496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48072" y="2990088"/>
            <a:ext cx="2496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Basis Function Swap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599432" y="3547872"/>
            <a:ext cx="73152" cy="7315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7" name="Text 25"/>
          <p:cNvSpPr/>
          <p:nvPr/>
        </p:nvSpPr>
        <p:spPr>
          <a:xfrm>
            <a:off x="4782312" y="3419856"/>
            <a:ext cx="2816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Cubic B-splines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99432" y="3968496"/>
            <a:ext cx="73152" cy="7315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9" name="Text 27"/>
          <p:cNvSpPr/>
          <p:nvPr/>
        </p:nvSpPr>
        <p:spPr>
          <a:xfrm>
            <a:off x="4782312" y="3840480"/>
            <a:ext cx="2816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RBF (baseline)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599432" y="4389120"/>
            <a:ext cx="73152" cy="7315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31" name="Text 29"/>
          <p:cNvSpPr/>
          <p:nvPr/>
        </p:nvSpPr>
        <p:spPr>
          <a:xfrm>
            <a:off x="4782312" y="4261104"/>
            <a:ext cx="2816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Lagrange polynomials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599432" y="4809744"/>
            <a:ext cx="73152" cy="7315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33" name="Text 31"/>
          <p:cNvSpPr/>
          <p:nvPr/>
        </p:nvSpPr>
        <p:spPr>
          <a:xfrm>
            <a:off x="4782312" y="4681728"/>
            <a:ext cx="2816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divided differences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553712" y="5440680"/>
            <a:ext cx="3044952" cy="0"/>
          </a:xfrm>
          <a:prstGeom prst="line">
            <a:avLst/>
          </a:prstGeom>
          <a:noFill/>
          <a:ln w="12700">
            <a:solidFill>
              <a:srgbClr val="E2E5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53712" y="5532120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fitting accuracy, parameter efficiency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010144" y="2514600"/>
            <a:ext cx="3502152" cy="3611880"/>
          </a:xfrm>
          <a:prstGeom prst="roundRect">
            <a:avLst>
              <a:gd name="adj" fmla="val 2350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C2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238744" y="27706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38" name="Text 36"/>
          <p:cNvSpPr/>
          <p:nvPr/>
        </p:nvSpPr>
        <p:spPr>
          <a:xfrm>
            <a:off x="8238744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833104" y="2770632"/>
            <a:ext cx="2496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833104" y="2990088"/>
            <a:ext cx="2496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Cross-Domain &amp; Robustness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8284464" y="3776472"/>
            <a:ext cx="73152" cy="7315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42" name="Text 40"/>
          <p:cNvSpPr/>
          <p:nvPr/>
        </p:nvSpPr>
        <p:spPr>
          <a:xfrm>
            <a:off x="8467344" y="3648456"/>
            <a:ext cx="2816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Damped pendulum ODE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8284464" y="4197096"/>
            <a:ext cx="73152" cy="7315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44" name="Text 42"/>
          <p:cNvSpPr/>
          <p:nvPr/>
        </p:nvSpPr>
        <p:spPr>
          <a:xfrm>
            <a:off x="8467344" y="4069080"/>
            <a:ext cx="2816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 epidemic curve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8284464" y="4617720"/>
            <a:ext cx="73152" cy="7315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46" name="Text 44"/>
          <p:cNvSpPr/>
          <p:nvPr/>
        </p:nvSpPr>
        <p:spPr>
          <a:xfrm>
            <a:off x="8467344" y="4489704"/>
            <a:ext cx="2816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noise sweep (σ = 0.01–0.10)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8238744" y="5440680"/>
            <a:ext cx="3044952" cy="0"/>
          </a:xfrm>
          <a:prstGeom prst="line">
            <a:avLst/>
          </a:prstGeom>
          <a:noFill/>
          <a:ln w="12700">
            <a:solidFill>
              <a:srgbClr val="E2E5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38744" y="5532120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generalization beyond Lotka-Volterra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on the Lotka-Volterra predator-prey system, then generalize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232A5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8680" y="20574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3A427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01168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2304288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Lotka-Volterra trajectories via high-precision RK4 (α=1.5, β=1, γ=3, δ=1)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51560" y="2423160"/>
            <a:ext cx="0" cy="457200"/>
          </a:xfrm>
          <a:prstGeom prst="line">
            <a:avLst/>
          </a:prstGeom>
          <a:noFill/>
          <a:ln w="19050">
            <a:solidFill>
              <a:srgbClr val="3A4278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868680" y="310896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3A4278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06324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swap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371600" y="3355848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KAN edge layer with each basis (RBF, B-spline, Lagrange, Newton); rebuild solver as Euler / RK2 / RK4 / RK45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51560" y="3474720"/>
            <a:ext cx="0" cy="457200"/>
          </a:xfrm>
          <a:prstGeom prst="line">
            <a:avLst/>
          </a:prstGeom>
          <a:noFill/>
          <a:ln w="19050">
            <a:solidFill>
              <a:srgbClr val="3A427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68680" y="41605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3A4278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160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11480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backprop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371600" y="4407408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Adjoint-sensitivity gradients through the ODE solver; Adam optimizer + L1 sparsity regularization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51560" y="4526280"/>
            <a:ext cx="0" cy="457200"/>
          </a:xfrm>
          <a:prstGeom prst="line">
            <a:avLst/>
          </a:prstGeom>
          <a:noFill/>
          <a:ln w="19050">
            <a:solidFill>
              <a:srgbClr val="3A4278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868680" y="52120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2B84B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212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516636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371600" y="5458968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train/test MSE, NFE vs. wall-clock time, and extrapolation drift beyond the training window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178040" y="1508760"/>
            <a:ext cx="43434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406640" y="1691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TO RECORD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06640" y="20574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06640" y="23317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loss per solver × basis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406640" y="26791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Extrapolation MSE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06640" y="295351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for t beyond training window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406640" y="330098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NFE / step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06640" y="357530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2, 4 for Euler, RK2, RK4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406640" y="39227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time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406640" y="419709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10⁴ epochs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178040" y="4754880"/>
            <a:ext cx="4343400" cy="1463040"/>
          </a:xfrm>
          <a:prstGeom prst="roundRect">
            <a:avLst>
              <a:gd name="adj" fmla="val 5000"/>
            </a:avLst>
          </a:prstGeom>
          <a:solidFill>
            <a:srgbClr val="232A52"/>
          </a:solidFill>
          <a:ln/>
        </p:spPr>
      </p:sp>
      <p:sp>
        <p:nvSpPr>
          <p:cNvPr id="36" name="Text 34"/>
          <p:cNvSpPr/>
          <p:nvPr/>
        </p:nvSpPr>
        <p:spPr>
          <a:xfrm>
            <a:off x="7406640" y="4937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TIE-IN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406640" y="523036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Euler/RK integration · spline &amp; polynomial interpolation · truncation error · gradient-based optimization — all applied to one live system.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2026-08-16T19:47:08Z</dcterms:created>
  <dcterms:modified xsi:type="dcterms:W3CDTF">2026-08-16T19:47:08Z</dcterms:modified>
</cp:coreProperties>
</file>